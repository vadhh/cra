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56" r:id="rId3"/>
    <p:sldId id="257" r:id="rId4"/>
    <p:sldId id="258" r:id="rId5"/>
    <p:sldId id="268" r:id="rId6"/>
    <p:sldId id="260" r:id="rId7"/>
    <p:sldId id="261" r:id="rId8"/>
    <p:sldId id="262" r:id="rId9"/>
    <p:sldId id="263" r:id="rId10"/>
    <p:sldId id="264" r:id="rId11"/>
    <p:sldId id="270" r:id="rId12"/>
    <p:sldId id="265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747" autoAdjust="0"/>
  </p:normalViewPr>
  <p:slideViewPr>
    <p:cSldViewPr snapToGrid="0" snapToObjects="1">
      <p:cViewPr varScale="1">
        <p:scale>
          <a:sx n="51" d="100"/>
          <a:sy n="51" d="100"/>
        </p:scale>
        <p:origin x="-1243" y="-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8000"/>
            <a:lum/>
          </a:blip>
          <a:srcRect/>
          <a:stretch>
            <a:fillRect t="-24000" b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5/3/2025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mailto:sydeco.indonesia@yahoo.com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sydeco.c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hyperlink" Target="mailto:info@sydecloud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7"/>
          <p:cNvGrpSpPr/>
          <p:nvPr/>
        </p:nvGrpSpPr>
        <p:grpSpPr>
          <a:xfrm>
            <a:off x="4616000" y="1857364"/>
            <a:ext cx="4506057" cy="5000636"/>
            <a:chOff x="5024438" y="1857364"/>
            <a:chExt cx="4881562" cy="5000636"/>
          </a:xfrm>
        </p:grpSpPr>
        <p:grpSp>
          <p:nvGrpSpPr>
            <p:cNvPr id="3" name="Group 15"/>
            <p:cNvGrpSpPr/>
            <p:nvPr/>
          </p:nvGrpSpPr>
          <p:grpSpPr>
            <a:xfrm>
              <a:off x="5040326" y="1857364"/>
              <a:ext cx="4841896" cy="5000636"/>
              <a:chOff x="4953000" y="1857364"/>
              <a:chExt cx="4841896" cy="5000636"/>
            </a:xfrm>
          </p:grpSpPr>
          <p:pic>
            <p:nvPicPr>
              <p:cNvPr id="93188" name="Picture 4" descr="C:\Users\user\Desktop\blue-tech-abstract-background.jpg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4953000" y="1857364"/>
                <a:ext cx="4841896" cy="5000636"/>
              </a:xfrm>
              <a:prstGeom prst="rect">
                <a:avLst/>
              </a:prstGeom>
              <a:noFill/>
            </p:spPr>
          </p:pic>
          <p:sp>
            <p:nvSpPr>
              <p:cNvPr id="10" name="Rectangle 9"/>
              <p:cNvSpPr/>
              <p:nvPr/>
            </p:nvSpPr>
            <p:spPr>
              <a:xfrm>
                <a:off x="5238752" y="2071678"/>
                <a:ext cx="2428892" cy="114300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Rectangle 16"/>
            <p:cNvSpPr/>
            <p:nvPr/>
          </p:nvSpPr>
          <p:spPr>
            <a:xfrm>
              <a:off x="5024438" y="6643710"/>
              <a:ext cx="4881562" cy="2142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6643710"/>
            <a:ext cx="9144000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BE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1431733" y="3497433"/>
            <a:ext cx="6282000" cy="1466"/>
          </a:xfrm>
          <a:prstGeom prst="line">
            <a:avLst/>
          </a:prstGeom>
          <a:noFill/>
          <a:ln w="9525" cap="flat">
            <a:solidFill>
              <a:schemeClr val="accent5">
                <a:lumMod val="7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Title 1"/>
          <p:cNvSpPr txBox="1">
            <a:spLocks/>
          </p:cNvSpPr>
          <p:nvPr/>
        </p:nvSpPr>
        <p:spPr>
          <a:xfrm>
            <a:off x="219778" y="0"/>
            <a:ext cx="4031270" cy="6309320"/>
          </a:xfrm>
          <a:prstGeom prst="rect">
            <a:avLst/>
          </a:prstGeom>
        </p:spPr>
        <p:txBody>
          <a:bodyPr anchor="ctr"/>
          <a:lstStyle/>
          <a:p>
            <a:pPr algn="ctr">
              <a:defRPr/>
            </a:pPr>
            <a:endParaRPr lang="en-GB" sz="3600" b="1" i="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>
              <a:defRPr/>
            </a:pPr>
            <a:r>
              <a:rPr lang="en-GB" sz="3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PT SYDECO</a:t>
            </a:r>
          </a:p>
          <a:p>
            <a:pPr algn="ctr">
              <a:defRPr/>
            </a:pPr>
            <a:endParaRPr lang="en-GB" sz="3600" b="1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>
              <a:defRPr/>
            </a:pPr>
            <a:r>
              <a:rPr lang="fr-BE" sz="1600" i="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présente</a:t>
            </a:r>
            <a:endParaRPr lang="fr-BE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>
              <a:defRPr/>
            </a:pP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algn="ctr"/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ctr"/>
            <a:r>
              <a:rPr lang="fr-FR" sz="2400" b="1" dirty="0" smtClean="0"/>
              <a:t>Vérificateur de Documents Juridiques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 </a:t>
            </a:r>
          </a:p>
          <a:p>
            <a:pPr algn="ctr">
              <a:defRPr/>
            </a:pPr>
            <a:endParaRPr lang="en-GB" sz="3600" b="1" dirty="0">
              <a:solidFill>
                <a:schemeClr val="tx1">
                  <a:lumMod val="75000"/>
                  <a:lumOff val="25000"/>
                </a:schemeClr>
              </a:solidFill>
              <a:latin typeface="Garamond" pitchFamily="18" charset="0"/>
              <a:ea typeface="+mj-ea"/>
              <a:cs typeface="Avenir Next Regular" charset="0"/>
            </a:endParaRPr>
          </a:p>
          <a:p>
            <a:pPr algn="ctr">
              <a:defRPr/>
            </a:pPr>
            <a:endParaRPr lang="en-GB" sz="3600" b="1" dirty="0">
              <a:solidFill>
                <a:schemeClr val="tx1">
                  <a:lumMod val="75000"/>
                  <a:lumOff val="25000"/>
                </a:schemeClr>
              </a:solidFill>
              <a:latin typeface="Garamond" pitchFamily="18" charset="0"/>
              <a:ea typeface="+mj-ea"/>
              <a:cs typeface="Avenir Next Regular" charset="0"/>
            </a:endParaRPr>
          </a:p>
          <a:p>
            <a:pPr algn="ctr">
              <a:defRPr/>
            </a:pPr>
            <a:endParaRPr lang="en-GB" sz="3600" b="1" dirty="0">
              <a:solidFill>
                <a:schemeClr val="tx1">
                  <a:lumMod val="75000"/>
                  <a:lumOff val="25000"/>
                </a:schemeClr>
              </a:solidFill>
              <a:latin typeface="Garamond" pitchFamily="18" charset="0"/>
              <a:ea typeface="+mj-ea"/>
              <a:cs typeface="Avenir Next Regular" charset="0"/>
            </a:endParaRPr>
          </a:p>
          <a:p>
            <a:pPr algn="r">
              <a:defRPr/>
            </a:pPr>
            <a:r>
              <a:rPr lang="en-GB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MAI 2025</a:t>
            </a:r>
            <a:endParaRPr lang="en-GB" sz="1600" dirty="0">
              <a:solidFill>
                <a:schemeClr val="tx1">
                  <a:lumMod val="75000"/>
                  <a:lumOff val="25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549492" y="1412777"/>
            <a:ext cx="3076575" cy="158417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dirty="0">
              <a:cs typeface="Arial" pitchFamily="34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" y="4286287"/>
            <a:ext cx="4572000" cy="825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hangingPunct="0">
              <a:spcBef>
                <a:spcPts val="1400"/>
              </a:spcBef>
            </a:pPr>
            <a:endParaRPr lang="en-US" b="1" i="0" dirty="0">
              <a:solidFill>
                <a:srgbClr val="535353"/>
              </a:solidFill>
              <a:latin typeface="Verdana" pitchFamily="34" charset="0"/>
              <a:sym typeface="Verdana" pitchFamily="34" charset="0"/>
            </a:endParaRPr>
          </a:p>
          <a:p>
            <a:pPr algn="ctr" hangingPunct="0">
              <a:spcBef>
                <a:spcPts val="1400"/>
              </a:spcBef>
            </a:pPr>
            <a:endParaRPr lang="en-US" b="1" i="0" dirty="0">
              <a:solidFill>
                <a:srgbClr val="535353"/>
              </a:solidFill>
              <a:latin typeface="Times New Roman" pitchFamily="18" charset="0"/>
              <a:cs typeface="Times New Roman" pitchFamily="18" charset="0"/>
              <a:sym typeface="Verdana" pitchFamily="34" charset="0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35771" y="2000240"/>
            <a:ext cx="2373940" cy="408620"/>
          </a:xfrm>
          <a:prstGeom prst="round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BE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pic>
        <p:nvPicPr>
          <p:cNvPr id="21" name="Picture 2" descr="D:\new logo sydeco\new logo sydeco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67661" y="857232"/>
            <a:ext cx="2528887" cy="2690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322106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b="1" dirty="0" smtClean="0"/>
              <a:t>Le “</a:t>
            </a:r>
            <a:r>
              <a:rPr lang="fr-FR" sz="4000" b="1" dirty="0" smtClean="0"/>
              <a:t>Vérificateur de Documents Juridiques » aide chacun à comprendre ses contrats avant de les signer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endParaRPr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191931" y="5937142"/>
            <a:ext cx="34716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Un </a:t>
            </a:r>
            <a:r>
              <a:rPr lang="en-US" dirty="0" err="1" smtClean="0"/>
              <a:t>produit</a:t>
            </a:r>
            <a:r>
              <a:rPr lang="en-US" dirty="0" smtClean="0"/>
              <a:t> de PT SYDECO </a:t>
            </a:r>
            <a:r>
              <a:rPr lang="en-US" dirty="0" smtClean="0">
                <a:latin typeface="Calibri"/>
                <a:cs typeface="Calibri"/>
              </a:rPr>
              <a:t>© 2025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Le </a:t>
            </a:r>
            <a:r>
              <a:rPr b="1" dirty="0" err="1"/>
              <a:t>Problème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3302"/>
            <a:ext cx="8229600" cy="4525963"/>
          </a:xfrm>
        </p:spPr>
        <p:txBody>
          <a:bodyPr/>
          <a:lstStyle/>
          <a:p>
            <a:r>
              <a:rPr dirty="0" smtClean="0"/>
              <a:t>Les </a:t>
            </a:r>
            <a:r>
              <a:rPr dirty="0" err="1"/>
              <a:t>contrats</a:t>
            </a:r>
            <a:r>
              <a:rPr dirty="0"/>
              <a:t> </a:t>
            </a:r>
            <a:r>
              <a:rPr dirty="0" err="1"/>
              <a:t>sont</a:t>
            </a:r>
            <a:r>
              <a:rPr dirty="0"/>
              <a:t> complexes et </a:t>
            </a:r>
            <a:r>
              <a:rPr dirty="0" err="1"/>
              <a:t>remplis</a:t>
            </a:r>
            <a:r>
              <a:rPr dirty="0"/>
              <a:t> de jargon </a:t>
            </a:r>
            <a:r>
              <a:rPr dirty="0" err="1"/>
              <a:t>juridique</a:t>
            </a:r>
            <a:endParaRPr dirty="0"/>
          </a:p>
          <a:p>
            <a:r>
              <a:rPr dirty="0" smtClean="0"/>
              <a:t>Beaucoup </a:t>
            </a:r>
            <a:r>
              <a:rPr dirty="0"/>
              <a:t>de gens </a:t>
            </a:r>
            <a:r>
              <a:rPr dirty="0" err="1"/>
              <a:t>ignorent</a:t>
            </a:r>
            <a:r>
              <a:rPr dirty="0"/>
              <a:t> </a:t>
            </a:r>
            <a:r>
              <a:rPr dirty="0" err="1"/>
              <a:t>si</a:t>
            </a:r>
            <a:r>
              <a:rPr dirty="0"/>
              <a:t> un </a:t>
            </a:r>
            <a:r>
              <a:rPr dirty="0" err="1"/>
              <a:t>contrat</a:t>
            </a:r>
            <a:r>
              <a:rPr dirty="0"/>
              <a:t> :</a:t>
            </a:r>
          </a:p>
          <a:p>
            <a:pPr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/>
              <a:t>complet</a:t>
            </a:r>
            <a:endParaRPr dirty="0"/>
          </a:p>
          <a:p>
            <a:pPr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</a:t>
            </a:r>
            <a:r>
              <a:rPr dirty="0" err="1"/>
              <a:t>Est</a:t>
            </a:r>
            <a:r>
              <a:rPr dirty="0"/>
              <a:t> </a:t>
            </a:r>
            <a:r>
              <a:rPr dirty="0" err="1" smtClean="0"/>
              <a:t>équitable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 smtClean="0"/>
              <a:t> encore,</a:t>
            </a:r>
            <a:endParaRPr dirty="0"/>
          </a:p>
          <a:p>
            <a:pPr>
              <a:buNone/>
            </a:pPr>
            <a:r>
              <a:rPr lang="en-US" dirty="0" smtClean="0"/>
              <a:t>	</a:t>
            </a:r>
            <a:r>
              <a:rPr dirty="0" smtClean="0"/>
              <a:t>   </a:t>
            </a:r>
            <a:r>
              <a:rPr dirty="0"/>
              <a:t>- </a:t>
            </a:r>
            <a:r>
              <a:rPr dirty="0" err="1"/>
              <a:t>Contient</a:t>
            </a:r>
            <a:r>
              <a:rPr dirty="0"/>
              <a:t> des clauses </a:t>
            </a:r>
            <a:r>
              <a:rPr dirty="0" err="1"/>
              <a:t>abusives</a:t>
            </a:r>
            <a:endParaRPr dirty="0"/>
          </a:p>
          <a:p>
            <a:r>
              <a:rPr dirty="0" smtClean="0"/>
              <a:t>Les </a:t>
            </a:r>
            <a:r>
              <a:rPr dirty="0" err="1"/>
              <a:t>particuliers</a:t>
            </a:r>
            <a:r>
              <a:rPr dirty="0"/>
              <a:t> et les PME </a:t>
            </a:r>
            <a:r>
              <a:rPr dirty="0" err="1"/>
              <a:t>sont</a:t>
            </a:r>
            <a:r>
              <a:rPr dirty="0"/>
              <a:t> les plus </a:t>
            </a:r>
            <a:r>
              <a:rPr dirty="0" err="1"/>
              <a:t>vulnérables</a:t>
            </a:r>
            <a:endParaRPr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7113" y="405422"/>
            <a:ext cx="6849687" cy="1407880"/>
          </a:xfrm>
        </p:spPr>
        <p:txBody>
          <a:bodyPr>
            <a:normAutofit fontScale="90000"/>
          </a:bodyPr>
          <a:lstStyle/>
          <a:p>
            <a:pPr algn="l"/>
            <a:r>
              <a:rPr b="1" dirty="0"/>
              <a:t>La </a:t>
            </a:r>
            <a:r>
              <a:rPr b="1" dirty="0" smtClean="0"/>
              <a:t>Solution</a:t>
            </a:r>
            <a:r>
              <a:rPr lang="en-US" b="1" dirty="0" smtClean="0"/>
              <a:t>: </a:t>
            </a:r>
            <a:br>
              <a:rPr lang="en-US" b="1" dirty="0" smtClean="0"/>
            </a:br>
            <a:r>
              <a:rPr lang="fr-FR" b="1" dirty="0" smtClean="0"/>
              <a:t>L'Application « Vérificateur de Documents Juridiques » 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53629"/>
            <a:ext cx="8229600" cy="450437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buNone/>
            </a:pPr>
            <a:r>
              <a:rPr lang="fr-FR" dirty="0" smtClean="0"/>
              <a:t>Application intelligente d’analyse de documents </a:t>
            </a:r>
          </a:p>
          <a:p>
            <a:pPr>
              <a:spcBef>
                <a:spcPts val="0"/>
              </a:spcBef>
              <a:buNone/>
            </a:pPr>
            <a:r>
              <a:rPr lang="fr-FR" dirty="0" smtClean="0"/>
              <a:t>juridiques qui:</a:t>
            </a:r>
          </a:p>
          <a:p>
            <a:pPr>
              <a:spcBef>
                <a:spcPts val="0"/>
              </a:spcBef>
              <a:buNone/>
            </a:pPr>
            <a:r>
              <a:rPr lang="fr-FR" dirty="0" smtClean="0"/>
              <a:t>	- Rationalise et identifie le type de document,</a:t>
            </a:r>
          </a:p>
          <a:p>
            <a:pPr>
              <a:buNone/>
            </a:pPr>
            <a:r>
              <a:rPr lang="fr-FR" dirty="0" smtClean="0"/>
              <a:t>	- Signale les clauses léonines, abusives ou 		 	 manquantes.</a:t>
            </a:r>
          </a:p>
          <a:p>
            <a:pPr>
              <a:buNone/>
            </a:pPr>
            <a:r>
              <a:rPr lang="fr-FR" dirty="0" smtClean="0"/>
              <a:t>	- Détecte la loi applicable.</a:t>
            </a:r>
          </a:p>
          <a:p>
            <a:pPr>
              <a:buNone/>
            </a:pPr>
            <a:r>
              <a:rPr lang="fr-FR" dirty="0" smtClean="0"/>
              <a:t>	- Explique les obligations légales et, </a:t>
            </a:r>
          </a:p>
          <a:p>
            <a:pPr>
              <a:buNone/>
            </a:pPr>
            <a:r>
              <a:rPr lang="fr-FR" dirty="0" smtClean="0"/>
              <a:t>	- Propose des reformulations plus équitables.</a:t>
            </a:r>
          </a:p>
          <a:p>
            <a:pPr>
              <a:buNone/>
            </a:pPr>
            <a:endParaRPr lang="fr-FR" dirty="0" smtClean="0"/>
          </a:p>
          <a:p>
            <a:pPr>
              <a:buNone/>
            </a:pPr>
            <a:endParaRPr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479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043" y="389744"/>
            <a:ext cx="8229600" cy="1143000"/>
          </a:xfrm>
        </p:spPr>
        <p:txBody>
          <a:bodyPr/>
          <a:lstStyle/>
          <a:p>
            <a:r>
              <a:rPr lang="en-US" b="1" dirty="0" err="1" smtClean="0"/>
              <a:t>Ce</a:t>
            </a:r>
            <a:r>
              <a:rPr lang="en-US" b="1" dirty="0" smtClean="0"/>
              <a:t> </a:t>
            </a:r>
            <a:r>
              <a:rPr lang="en-US" b="1" dirty="0" err="1" smtClean="0"/>
              <a:t>que</a:t>
            </a:r>
            <a:r>
              <a:rPr lang="en-US" b="1" dirty="0" smtClean="0"/>
              <a:t> fait </a:t>
            </a:r>
            <a:r>
              <a:rPr b="1" dirty="0" err="1" smtClean="0"/>
              <a:t>l'application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1614" y="2038662"/>
            <a:ext cx="8229600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 smtClean="0"/>
              <a:t>Elle </a:t>
            </a:r>
            <a:r>
              <a:rPr lang="en-US" dirty="0" err="1" smtClean="0"/>
              <a:t>d</a:t>
            </a:r>
            <a:r>
              <a:rPr dirty="0" err="1" smtClean="0"/>
              <a:t>étecte</a:t>
            </a:r>
            <a:r>
              <a:rPr dirty="0" smtClean="0"/>
              <a:t> </a:t>
            </a:r>
            <a:r>
              <a:rPr dirty="0"/>
              <a:t>la </a:t>
            </a:r>
            <a:r>
              <a:rPr dirty="0" err="1"/>
              <a:t>loi</a:t>
            </a:r>
            <a:r>
              <a:rPr dirty="0"/>
              <a:t> </a:t>
            </a:r>
            <a:r>
              <a:rPr dirty="0" smtClean="0"/>
              <a:t>applicable</a:t>
            </a:r>
            <a:r>
              <a:rPr lang="en-US" dirty="0" smtClean="0"/>
              <a:t>,</a:t>
            </a:r>
            <a:r>
              <a:rPr dirty="0" smtClean="0"/>
              <a:t> </a:t>
            </a:r>
            <a:r>
              <a:rPr dirty="0" err="1" smtClean="0"/>
              <a:t>même</a:t>
            </a:r>
            <a:r>
              <a:rPr dirty="0" smtClean="0"/>
              <a:t> </a:t>
            </a:r>
            <a:r>
              <a:rPr dirty="0" err="1"/>
              <a:t>si</a:t>
            </a:r>
            <a:r>
              <a:rPr dirty="0"/>
              <a:t> </a:t>
            </a:r>
            <a:r>
              <a:rPr lang="en-US" dirty="0" err="1" smtClean="0"/>
              <a:t>elle</a:t>
            </a:r>
            <a:r>
              <a:rPr lang="en-US" dirty="0" smtClean="0"/>
              <a:t> </a:t>
            </a:r>
            <a:r>
              <a:rPr lang="en-US" dirty="0" err="1" smtClean="0"/>
              <a:t>n’est</a:t>
            </a:r>
            <a:r>
              <a:rPr lang="en-US" dirty="0" smtClean="0"/>
              <a:t> pas </a:t>
            </a:r>
            <a:r>
              <a:rPr dirty="0" err="1" smtClean="0"/>
              <a:t>mentionnée</a:t>
            </a:r>
            <a:r>
              <a:rPr dirty="0"/>
              <a:t>)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 smtClean="0"/>
              <a:t>Elle </a:t>
            </a:r>
            <a:r>
              <a:rPr lang="en-US" dirty="0" err="1" smtClean="0"/>
              <a:t>c</a:t>
            </a:r>
            <a:r>
              <a:rPr dirty="0" err="1" smtClean="0"/>
              <a:t>lassifie</a:t>
            </a:r>
            <a:r>
              <a:rPr dirty="0" smtClean="0"/>
              <a:t> </a:t>
            </a:r>
            <a:r>
              <a:rPr dirty="0"/>
              <a:t>le type de </a:t>
            </a:r>
            <a:r>
              <a:rPr dirty="0" err="1" smtClean="0"/>
              <a:t>contrat</a:t>
            </a:r>
            <a:r>
              <a:rPr lang="en-US" dirty="0" smtClean="0"/>
              <a:t>,</a:t>
            </a:r>
            <a:endParaRPr dirty="0"/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dirty="0" smtClean="0"/>
              <a:t>Elle </a:t>
            </a:r>
            <a:r>
              <a:rPr lang="en-US" dirty="0" err="1" smtClean="0"/>
              <a:t>d</a:t>
            </a:r>
            <a:r>
              <a:rPr dirty="0" err="1" smtClean="0"/>
              <a:t>étermine</a:t>
            </a:r>
            <a:r>
              <a:rPr dirty="0" smtClean="0"/>
              <a:t> </a:t>
            </a:r>
            <a:r>
              <a:rPr dirty="0"/>
              <a:t>le type </a:t>
            </a:r>
            <a:r>
              <a:rPr dirty="0" err="1"/>
              <a:t>d'obligation</a:t>
            </a:r>
            <a:r>
              <a:rPr dirty="0"/>
              <a:t> </a:t>
            </a:r>
            <a:r>
              <a:rPr dirty="0" err="1"/>
              <a:t>juridique</a:t>
            </a:r>
            <a:r>
              <a:rPr dirty="0"/>
              <a:t> :</a:t>
            </a:r>
          </a:p>
          <a:p>
            <a:pPr>
              <a:lnSpc>
                <a:spcPct val="110000"/>
              </a:lnSpc>
              <a:spcBef>
                <a:spcPts val="600"/>
              </a:spcBef>
              <a:buNone/>
            </a:pPr>
            <a:r>
              <a:rPr lang="en-US" dirty="0" smtClean="0"/>
              <a:t>	</a:t>
            </a:r>
            <a:r>
              <a:rPr dirty="0" smtClean="0"/>
              <a:t>Obligation </a:t>
            </a:r>
            <a:r>
              <a:rPr dirty="0"/>
              <a:t>de </a:t>
            </a:r>
            <a:r>
              <a:rPr dirty="0" smtClean="0"/>
              <a:t>faire</a:t>
            </a:r>
            <a:r>
              <a:rPr lang="en-US" dirty="0" smtClean="0"/>
              <a:t>, </a:t>
            </a:r>
            <a:r>
              <a:rPr dirty="0" smtClean="0"/>
              <a:t>de </a:t>
            </a:r>
            <a:r>
              <a:rPr dirty="0" err="1" smtClean="0"/>
              <a:t>donner</a:t>
            </a:r>
            <a:r>
              <a:rPr lang="en-US" dirty="0" smtClean="0"/>
              <a:t> </a:t>
            </a:r>
            <a:r>
              <a:rPr lang="en-US" dirty="0" err="1" smtClean="0"/>
              <a:t>ou</a:t>
            </a:r>
            <a:r>
              <a:rPr lang="en-US" dirty="0"/>
              <a:t> </a:t>
            </a:r>
            <a:r>
              <a:rPr dirty="0" smtClean="0"/>
              <a:t>de </a:t>
            </a:r>
            <a:r>
              <a:rPr dirty="0"/>
              <a:t>ne pas </a:t>
            </a:r>
            <a:r>
              <a:rPr dirty="0" smtClean="0"/>
              <a:t>faire</a:t>
            </a:r>
            <a:r>
              <a:rPr lang="en-US" dirty="0" smtClean="0"/>
              <a:t>,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fr-FR" dirty="0" smtClean="0"/>
              <a:t>Elle suggère des reformulations équitables,</a:t>
            </a:r>
          </a:p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fr-FR" dirty="0" smtClean="0"/>
              <a:t>Elle montre la traçabilité des clauses.</a:t>
            </a:r>
          </a:p>
          <a:p>
            <a:pPr>
              <a:buNone/>
            </a:pPr>
            <a:endParaRPr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05454" y="274638"/>
            <a:ext cx="6981345" cy="1143000"/>
          </a:xfrm>
        </p:spPr>
        <p:txBody>
          <a:bodyPr>
            <a:normAutofit fontScale="90000"/>
          </a:bodyPr>
          <a:lstStyle/>
          <a:p>
            <a:r>
              <a:rPr b="1" dirty="0" err="1"/>
              <a:t>Multilingue</a:t>
            </a:r>
            <a:r>
              <a:rPr b="1" dirty="0"/>
              <a:t> et </a:t>
            </a:r>
            <a:r>
              <a:rPr b="1" dirty="0" err="1"/>
              <a:t>Multijuridiction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3268"/>
            <a:ext cx="8229600" cy="4525963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dirty="0" err="1" smtClean="0"/>
              <a:t>Droit</a:t>
            </a:r>
            <a:r>
              <a:rPr dirty="0" smtClean="0"/>
              <a:t> </a:t>
            </a:r>
            <a:r>
              <a:rPr dirty="0" err="1"/>
              <a:t>belge</a:t>
            </a:r>
            <a:r>
              <a:rPr dirty="0"/>
              <a:t>, </a:t>
            </a:r>
            <a:r>
              <a:rPr dirty="0" err="1"/>
              <a:t>français</a:t>
            </a:r>
            <a:r>
              <a:rPr dirty="0"/>
              <a:t>, </a:t>
            </a:r>
            <a:r>
              <a:rPr dirty="0" err="1"/>
              <a:t>néerlandais</a:t>
            </a:r>
            <a:r>
              <a:rPr dirty="0"/>
              <a:t>, </a:t>
            </a:r>
            <a:r>
              <a:rPr dirty="0" err="1"/>
              <a:t>indonésien</a:t>
            </a:r>
            <a:r>
              <a:rPr dirty="0"/>
              <a:t>, </a:t>
            </a:r>
            <a:r>
              <a:rPr dirty="0" err="1" smtClean="0"/>
              <a:t>luxembourgeois</a:t>
            </a:r>
            <a:endParaRPr lang="en-US" dirty="0" smtClean="0"/>
          </a:p>
          <a:p>
            <a:pPr>
              <a:spcBef>
                <a:spcPts val="0"/>
              </a:spcBef>
              <a:buNone/>
            </a:pPr>
            <a:endParaRPr dirty="0"/>
          </a:p>
          <a:p>
            <a:pPr>
              <a:spcBef>
                <a:spcPts val="0"/>
              </a:spcBef>
            </a:pPr>
            <a:r>
              <a:rPr dirty="0" err="1" smtClean="0"/>
              <a:t>Disponible</a:t>
            </a:r>
            <a:r>
              <a:rPr dirty="0" smtClean="0"/>
              <a:t> </a:t>
            </a:r>
            <a:r>
              <a:rPr dirty="0"/>
              <a:t>en </a:t>
            </a:r>
            <a:r>
              <a:rPr dirty="0" err="1"/>
              <a:t>français</a:t>
            </a:r>
            <a:r>
              <a:rPr dirty="0"/>
              <a:t>, </a:t>
            </a:r>
            <a:r>
              <a:rPr dirty="0" err="1"/>
              <a:t>anglais</a:t>
            </a:r>
            <a:r>
              <a:rPr dirty="0"/>
              <a:t>, </a:t>
            </a:r>
            <a:r>
              <a:rPr dirty="0" err="1"/>
              <a:t>indonésien</a:t>
            </a:r>
            <a:r>
              <a:rPr dirty="0"/>
              <a:t>, </a:t>
            </a:r>
            <a:r>
              <a:rPr dirty="0" err="1"/>
              <a:t>néerlandais</a:t>
            </a:r>
            <a:endParaRPr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Exemple</a:t>
            </a:r>
            <a:r>
              <a:rPr b="1" dirty="0"/>
              <a:t> </a:t>
            </a:r>
            <a:r>
              <a:rPr b="1" dirty="0" err="1"/>
              <a:t>réel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/>
              <a:t>Un </a:t>
            </a:r>
            <a:r>
              <a:rPr dirty="0" err="1"/>
              <a:t>contrat</a:t>
            </a:r>
            <a:r>
              <a:rPr dirty="0"/>
              <a:t> de travail </a:t>
            </a:r>
            <a:r>
              <a:rPr dirty="0" err="1"/>
              <a:t>belge</a:t>
            </a:r>
            <a:r>
              <a:rPr dirty="0"/>
              <a:t> </a:t>
            </a:r>
            <a:r>
              <a:rPr dirty="0" err="1"/>
              <a:t>signalé</a:t>
            </a:r>
            <a:r>
              <a:rPr dirty="0"/>
              <a:t> pour :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/>
              <a:t>Absence de clause </a:t>
            </a:r>
            <a:r>
              <a:rPr dirty="0" err="1"/>
              <a:t>d'essai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 smtClean="0"/>
              <a:t>	</a:t>
            </a:r>
            <a:r>
              <a:rPr dirty="0" smtClean="0"/>
              <a:t>• </a:t>
            </a:r>
            <a:r>
              <a:rPr dirty="0" err="1"/>
              <a:t>Déséquilibre</a:t>
            </a:r>
            <a:r>
              <a:rPr dirty="0"/>
              <a:t> </a:t>
            </a:r>
            <a:r>
              <a:rPr dirty="0" err="1"/>
              <a:t>dans</a:t>
            </a:r>
            <a:r>
              <a:rPr dirty="0"/>
              <a:t> le </a:t>
            </a:r>
            <a:r>
              <a:rPr dirty="0" err="1"/>
              <a:t>préavis</a:t>
            </a:r>
            <a:r>
              <a:rPr dirty="0"/>
              <a:t> de rupture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/>
              <a:t>Explication </a:t>
            </a:r>
            <a:r>
              <a:rPr dirty="0" err="1"/>
              <a:t>fournie</a:t>
            </a:r>
            <a:r>
              <a:rPr dirty="0"/>
              <a:t> en </a:t>
            </a:r>
            <a:r>
              <a:rPr dirty="0" err="1"/>
              <a:t>langage</a:t>
            </a:r>
            <a:r>
              <a:rPr dirty="0"/>
              <a:t> simple</a:t>
            </a:r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Moteur</a:t>
            </a:r>
            <a:r>
              <a:rPr dirty="0" smtClean="0"/>
              <a:t> </a:t>
            </a:r>
            <a:r>
              <a:rPr dirty="0"/>
              <a:t>en </a:t>
            </a:r>
            <a:r>
              <a:rPr dirty="0" smtClean="0"/>
              <a:t>Python</a:t>
            </a:r>
            <a:r>
              <a:rPr lang="en-US" dirty="0" smtClean="0"/>
              <a:t> (</a:t>
            </a:r>
            <a:r>
              <a:rPr lang="en-US" dirty="0" err="1" smtClean="0"/>
              <a:t>langage</a:t>
            </a:r>
            <a:r>
              <a:rPr lang="en-US" dirty="0" smtClean="0"/>
              <a:t> de </a:t>
            </a:r>
            <a:r>
              <a:rPr lang="en-US" dirty="0" err="1" smtClean="0"/>
              <a:t>programmation</a:t>
            </a:r>
            <a:r>
              <a:rPr lang="en-US" dirty="0" smtClean="0"/>
              <a:t>)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Exécution</a:t>
            </a:r>
            <a:r>
              <a:rPr dirty="0" smtClean="0"/>
              <a:t> </a:t>
            </a:r>
            <a:r>
              <a:rPr dirty="0"/>
              <a:t>locale et </a:t>
            </a:r>
            <a:r>
              <a:rPr dirty="0" err="1"/>
              <a:t>sécurisée</a:t>
            </a:r>
            <a:r>
              <a:rPr dirty="0"/>
              <a:t> (sans cloud)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smtClean="0"/>
              <a:t>Versions </a:t>
            </a:r>
            <a:r>
              <a:rPr dirty="0"/>
              <a:t>CLI et GUI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Intégration</a:t>
            </a:r>
            <a:r>
              <a:rPr dirty="0" smtClean="0"/>
              <a:t> </a:t>
            </a:r>
            <a:r>
              <a:rPr dirty="0" err="1"/>
              <a:t>SaaS</a:t>
            </a:r>
            <a:r>
              <a:rPr dirty="0"/>
              <a:t> avec Sydeco ML Engine</a:t>
            </a:r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Pour qui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Particuliers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Entreprises</a:t>
            </a:r>
            <a:r>
              <a:rPr dirty="0" smtClean="0"/>
              <a:t> </a:t>
            </a:r>
            <a:r>
              <a:rPr dirty="0"/>
              <a:t>(RH, </a:t>
            </a:r>
            <a:r>
              <a:rPr dirty="0" err="1"/>
              <a:t>Juridique</a:t>
            </a:r>
            <a:r>
              <a:rPr dirty="0"/>
              <a:t>, </a:t>
            </a:r>
            <a:r>
              <a:rPr dirty="0" err="1"/>
              <a:t>Achats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Écoles</a:t>
            </a:r>
            <a:r>
              <a:rPr dirty="0" smtClean="0"/>
              <a:t> </a:t>
            </a:r>
            <a:r>
              <a:rPr dirty="0"/>
              <a:t>et </a:t>
            </a:r>
            <a:r>
              <a:rPr dirty="0" err="1"/>
              <a:t>universités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Notaires</a:t>
            </a:r>
            <a:r>
              <a:rPr dirty="0"/>
              <a:t>, assistants </a:t>
            </a:r>
            <a:r>
              <a:rPr dirty="0" err="1"/>
              <a:t>juridiques</a:t>
            </a:r>
            <a:endParaRPr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2479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 err="1"/>
              <a:t>Avantages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32037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smtClean="0"/>
              <a:t>Gain </a:t>
            </a:r>
            <a:r>
              <a:rPr dirty="0"/>
              <a:t>de temps et </a:t>
            </a:r>
            <a:r>
              <a:rPr dirty="0" err="1"/>
              <a:t>d'honoraires</a:t>
            </a:r>
            <a:r>
              <a:rPr dirty="0"/>
              <a:t> </a:t>
            </a:r>
            <a:r>
              <a:rPr dirty="0" err="1"/>
              <a:t>juridiques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Évite</a:t>
            </a:r>
            <a:r>
              <a:rPr dirty="0" smtClean="0"/>
              <a:t> </a:t>
            </a:r>
            <a:r>
              <a:rPr dirty="0"/>
              <a:t>de signer des </a:t>
            </a:r>
            <a:r>
              <a:rPr dirty="0" err="1"/>
              <a:t>contrats</a:t>
            </a:r>
            <a:r>
              <a:rPr dirty="0"/>
              <a:t> </a:t>
            </a:r>
            <a:r>
              <a:rPr dirty="0" err="1"/>
              <a:t>injustes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Améliore</a:t>
            </a:r>
            <a:r>
              <a:rPr dirty="0" smtClean="0"/>
              <a:t> </a:t>
            </a:r>
            <a:r>
              <a:rPr dirty="0"/>
              <a:t>la </a:t>
            </a:r>
            <a:r>
              <a:rPr dirty="0" err="1"/>
              <a:t>compréhension</a:t>
            </a:r>
            <a:r>
              <a:rPr dirty="0"/>
              <a:t> </a:t>
            </a:r>
            <a:r>
              <a:rPr dirty="0" err="1"/>
              <a:t>juridique</a:t>
            </a:r>
            <a:endParaRPr dirty="0"/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 smtClean="0"/>
              <a:t>Renforce</a:t>
            </a:r>
            <a:r>
              <a:rPr dirty="0" smtClean="0"/>
              <a:t> </a:t>
            </a:r>
            <a:r>
              <a:rPr dirty="0"/>
              <a:t>la transparence</a:t>
            </a:r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174" y="274638"/>
            <a:ext cx="7427626" cy="1538664"/>
          </a:xfrm>
        </p:spPr>
        <p:txBody>
          <a:bodyPr>
            <a:normAutofit fontScale="90000"/>
          </a:bodyPr>
          <a:lstStyle/>
          <a:p>
            <a:r>
              <a:rPr lang="fr-FR" b="1" dirty="0" smtClean="0"/>
              <a:t>Comparatif des Solutions </a:t>
            </a:r>
            <a:r>
              <a:rPr lang="fr-FR" b="1" dirty="0" smtClean="0"/>
              <a:t/>
            </a:r>
            <a:br>
              <a:rPr lang="fr-FR" b="1" dirty="0" smtClean="0"/>
            </a:br>
            <a:r>
              <a:rPr lang="fr-FR" b="1" dirty="0" smtClean="0"/>
              <a:t>d’Analyse </a:t>
            </a:r>
            <a:r>
              <a:rPr lang="fr-FR" b="1" dirty="0" smtClean="0"/>
              <a:t>de Documents Juridiques</a:t>
            </a:r>
            <a:endParaRPr lang="en-US" b="1" dirty="0"/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588936"/>
            <a:ext cx="1243841" cy="1224366"/>
          </a:xfrm>
          <a:prstGeom prst="rect">
            <a:avLst/>
          </a:prstGeom>
          <a:noFill/>
        </p:spPr>
      </p:pic>
      <p:pic>
        <p:nvPicPr>
          <p:cNvPr id="5" name="Content Placeholder 4"/>
          <p:cNvPicPr>
            <a:picLocks noGrp="1"/>
          </p:cNvPicPr>
          <p:nvPr>
            <p:ph idx="1"/>
          </p:nvPr>
        </p:nvPicPr>
        <p:blipFill>
          <a:blip r:embed="rId3"/>
          <a:srcRect l="18106" t="28305" r="36419" b="25560"/>
          <a:stretch>
            <a:fillRect/>
          </a:stretch>
        </p:blipFill>
        <p:spPr bwMode="auto">
          <a:xfrm>
            <a:off x="457200" y="2098115"/>
            <a:ext cx="8229600" cy="4467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Contact &amp; </a:t>
            </a:r>
            <a:r>
              <a:rPr b="1" dirty="0" err="1"/>
              <a:t>Licence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13613"/>
            <a:ext cx="8229600" cy="4525963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/>
              <a:t>Développé</a:t>
            </a:r>
            <a:r>
              <a:rPr dirty="0"/>
              <a:t> par </a:t>
            </a:r>
            <a:r>
              <a:rPr b="1" dirty="0"/>
              <a:t>PT SYDECO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/>
              <a:t>Disponible</a:t>
            </a:r>
            <a:r>
              <a:rPr dirty="0"/>
              <a:t> en </a:t>
            </a:r>
            <a:r>
              <a:rPr dirty="0" smtClean="0"/>
              <a:t>:</a:t>
            </a:r>
            <a:endParaRPr lang="en-US" dirty="0" smtClean="0"/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 smtClean="0"/>
              <a:t>	- </a:t>
            </a:r>
            <a:r>
              <a:rPr dirty="0" smtClean="0"/>
              <a:t>Application </a:t>
            </a:r>
            <a:r>
              <a:rPr dirty="0"/>
              <a:t>bureau (EUR </a:t>
            </a:r>
            <a:r>
              <a:rPr dirty="0" err="1"/>
              <a:t>ou</a:t>
            </a:r>
            <a:r>
              <a:rPr dirty="0"/>
              <a:t> IDR)</a:t>
            </a:r>
          </a:p>
          <a:p>
            <a:pPr>
              <a:lnSpc>
                <a:spcPct val="150000"/>
              </a:lnSpc>
              <a:spcBef>
                <a:spcPts val="0"/>
              </a:spcBef>
              <a:buNone/>
            </a:pPr>
            <a:r>
              <a:rPr lang="en-US" dirty="0" smtClean="0"/>
              <a:t>	- </a:t>
            </a:r>
            <a:r>
              <a:rPr dirty="0" err="1" smtClean="0"/>
              <a:t>Intégration</a:t>
            </a:r>
            <a:r>
              <a:rPr dirty="0" smtClean="0"/>
              <a:t> </a:t>
            </a:r>
            <a:r>
              <a:rPr dirty="0" err="1"/>
              <a:t>SaaS</a:t>
            </a:r>
            <a:r>
              <a:rPr dirty="0"/>
              <a:t> (</a:t>
            </a:r>
            <a:r>
              <a:rPr dirty="0" err="1"/>
              <a:t>sur</a:t>
            </a:r>
            <a:r>
              <a:rPr dirty="0"/>
              <a:t> </a:t>
            </a:r>
            <a:r>
              <a:rPr dirty="0" err="1"/>
              <a:t>demande</a:t>
            </a:r>
            <a:r>
              <a:rPr dirty="0"/>
              <a:t>)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dirty="0" err="1"/>
              <a:t>Contactez</a:t>
            </a:r>
            <a:r>
              <a:rPr dirty="0"/>
              <a:t>-nous pour </a:t>
            </a:r>
            <a:r>
              <a:rPr dirty="0" err="1"/>
              <a:t>l’adapter</a:t>
            </a:r>
            <a:r>
              <a:rPr dirty="0"/>
              <a:t> à </a:t>
            </a:r>
            <a:r>
              <a:rPr dirty="0" err="1"/>
              <a:t>votre</a:t>
            </a:r>
            <a:r>
              <a:rPr dirty="0"/>
              <a:t> pays</a:t>
            </a:r>
          </a:p>
        </p:txBody>
      </p:sp>
      <p:pic>
        <p:nvPicPr>
          <p:cNvPr id="4" name="Picture 2" descr="C:\Users\Patrick\Desktop\SYDECO 2025\LOGOS &amp; PICTURES 2024\Sydeco logo 1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1614" y="588936"/>
            <a:ext cx="1243841" cy="122436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643710"/>
            <a:ext cx="9144000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BE" sz="1800" b="0" i="1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285720" y="1000112"/>
            <a:ext cx="3086100" cy="1038225"/>
          </a:xfrm>
          <a:prstGeom prst="rect">
            <a:avLst/>
          </a:prstGeom>
        </p:spPr>
        <p:txBody>
          <a:bodyPr anchor="ctr"/>
          <a:lstStyle/>
          <a:p>
            <a:pPr algn="ctr">
              <a:defRPr/>
            </a:pPr>
            <a:endParaRPr lang="en-US" sz="2800" i="0" dirty="0">
              <a:solidFill>
                <a:schemeClr val="tx1">
                  <a:lumMod val="75000"/>
                  <a:lumOff val="25000"/>
                </a:schemeClr>
              </a:solidFill>
              <a:latin typeface="Calibri body"/>
              <a:ea typeface="+mj-ea"/>
              <a:cs typeface="Avenir Next Regular" charset="0"/>
            </a:endParaRPr>
          </a:p>
        </p:txBody>
      </p:sp>
      <p:sp>
        <p:nvSpPr>
          <p:cNvPr id="14" name="Subtitle 2"/>
          <p:cNvSpPr txBox="1">
            <a:spLocks/>
          </p:cNvSpPr>
          <p:nvPr/>
        </p:nvSpPr>
        <p:spPr>
          <a:xfrm>
            <a:off x="549493" y="2071680"/>
            <a:ext cx="3076575" cy="12477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endParaRPr lang="en-US" sz="3200" dirty="0">
              <a:cs typeface="Arial" pitchFamily="34" charset="0"/>
            </a:endParaRPr>
          </a:p>
        </p:txBody>
      </p:sp>
      <p:sp>
        <p:nvSpPr>
          <p:cNvPr id="15" name="Rectangle 9"/>
          <p:cNvSpPr>
            <a:spLocks noChangeArrowheads="1"/>
          </p:cNvSpPr>
          <p:nvPr/>
        </p:nvSpPr>
        <p:spPr bwMode="auto">
          <a:xfrm>
            <a:off x="1" y="4286261"/>
            <a:ext cx="4572000" cy="825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hangingPunct="0">
              <a:spcBef>
                <a:spcPts val="1400"/>
              </a:spcBef>
            </a:pPr>
            <a:endParaRPr lang="en-US" b="1" i="0" dirty="0">
              <a:solidFill>
                <a:srgbClr val="535353"/>
              </a:solidFill>
              <a:latin typeface="Verdana" pitchFamily="34" charset="0"/>
              <a:sym typeface="Verdana" pitchFamily="34" charset="0"/>
            </a:endParaRPr>
          </a:p>
          <a:p>
            <a:pPr algn="ctr" hangingPunct="0">
              <a:spcBef>
                <a:spcPts val="1400"/>
              </a:spcBef>
            </a:pPr>
            <a:endParaRPr lang="en-US" b="1" i="0" dirty="0">
              <a:solidFill>
                <a:srgbClr val="535353"/>
              </a:solidFill>
              <a:latin typeface="Times New Roman" pitchFamily="18" charset="0"/>
              <a:cs typeface="Times New Roman" pitchFamily="18" charset="0"/>
              <a:sym typeface="Verdan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4365105"/>
            <a:ext cx="4572000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PT SYDECO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Jl.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Gabus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Raya 21,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Minomartani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Ngaglik,Sleman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Yogyakarta 5581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Indonesia </a:t>
            </a:r>
          </a:p>
          <a:p>
            <a:r>
              <a:rPr lang="fr-BE" sz="1600" dirty="0">
                <a:latin typeface="Times New Roman" pitchFamily="18" charset="0"/>
                <a:cs typeface="Times New Roman" pitchFamily="18" charset="0"/>
              </a:rPr>
              <a:t>Tel . (+62)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274 880-827 </a:t>
            </a:r>
            <a:endParaRPr lang="fr-BE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fr-BE" sz="1600" u="sng" dirty="0">
                <a:latin typeface="Times New Roman" pitchFamily="18" charset="0"/>
                <a:cs typeface="Times New Roman" pitchFamily="18" charset="0"/>
                <a:hlinkClick r:id="rId2"/>
              </a:rPr>
              <a:t>https://syde.co/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  <a:hlinkClick r:id="rId3"/>
              </a:rPr>
              <a:t>sydeco.indonesia@yahoo.com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  <a:hlinkClick r:id="rId4"/>
              </a:rPr>
              <a:t>info@sydecloud.com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2" name="Picture 4" descr="C:\Users\user\Desktop\blue-tech-abstract-background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572000" y="1857364"/>
            <a:ext cx="4469442" cy="5000636"/>
          </a:xfrm>
          <a:prstGeom prst="rect">
            <a:avLst/>
          </a:prstGeom>
          <a:noFill/>
        </p:spPr>
      </p:pic>
      <p:cxnSp>
        <p:nvCxnSpPr>
          <p:cNvPr id="16" name="Straight Connector 10"/>
          <p:cNvCxnSpPr/>
          <p:nvPr/>
        </p:nvCxnSpPr>
        <p:spPr>
          <a:xfrm rot="5400000">
            <a:off x="1431733" y="3497433"/>
            <a:ext cx="6282000" cy="1466"/>
          </a:xfrm>
          <a:prstGeom prst="line">
            <a:avLst/>
          </a:prstGeom>
          <a:noFill/>
          <a:ln w="9525" cap="flat">
            <a:solidFill>
              <a:schemeClr val="accent5">
                <a:lumMod val="75000"/>
              </a:schemeClr>
            </a:solidFill>
            <a:prstDash val="solid"/>
            <a:round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7" name="Rounded Rectangle 19"/>
          <p:cNvSpPr/>
          <p:nvPr/>
        </p:nvSpPr>
        <p:spPr>
          <a:xfrm>
            <a:off x="4835771" y="2000240"/>
            <a:ext cx="2373940" cy="408620"/>
          </a:xfrm>
          <a:prstGeom prst="roundRect">
            <a:avLst/>
          </a:prstGeom>
          <a:solidFill>
            <a:srgbClr val="FFFFFF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fr-BE" sz="1800" b="0" i="1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/>
            </a:endParaRPr>
          </a:p>
        </p:txBody>
      </p:sp>
      <p:sp>
        <p:nvSpPr>
          <p:cNvPr id="18" name="Ellipse 17"/>
          <p:cNvSpPr/>
          <p:nvPr/>
        </p:nvSpPr>
        <p:spPr>
          <a:xfrm>
            <a:off x="4929191" y="1643050"/>
            <a:ext cx="2357454" cy="1714512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/>
          </a:p>
        </p:txBody>
      </p:sp>
      <p:pic>
        <p:nvPicPr>
          <p:cNvPr id="19" name="Picture 2" descr="D:\new logo sydeco\new logo sydeco.pn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072067" y="857232"/>
            <a:ext cx="2528887" cy="2690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Rectangle 21"/>
          <p:cNvSpPr/>
          <p:nvPr/>
        </p:nvSpPr>
        <p:spPr>
          <a:xfrm>
            <a:off x="4500562" y="6643710"/>
            <a:ext cx="4500594" cy="21429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pic>
        <p:nvPicPr>
          <p:cNvPr id="33793" name="Picture 1"/>
          <p:cNvPicPr>
            <a:picLocks noChangeAspect="1" noChangeArrowheads="1"/>
          </p:cNvPicPr>
          <p:nvPr/>
        </p:nvPicPr>
        <p:blipFill>
          <a:blip r:embed="rId7" cstate="print">
            <a:lum bright="20000" contrast="40000"/>
          </a:blip>
          <a:srcRect/>
          <a:stretch>
            <a:fillRect/>
          </a:stretch>
        </p:blipFill>
        <p:spPr bwMode="auto">
          <a:xfrm>
            <a:off x="323529" y="476672"/>
            <a:ext cx="4032448" cy="291632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209</Words>
  <Application>Microsoft Office PowerPoint</Application>
  <PresentationFormat>On-screen Show (4:3)</PresentationFormat>
  <Paragraphs>75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Slide 1</vt:lpstr>
      <vt:lpstr> Le “Vérificateur de Documents Juridiques » aide chacun à comprendre ses contrats avant de les signer  </vt:lpstr>
      <vt:lpstr>Le Problème</vt:lpstr>
      <vt:lpstr>La Solution:  L'Application « Vérificateur de Documents Juridiques » </vt:lpstr>
      <vt:lpstr>Ce que fait l'application</vt:lpstr>
      <vt:lpstr>Multilingue et Multijuridiction</vt:lpstr>
      <vt:lpstr>Exemple réel</vt:lpstr>
      <vt:lpstr>Architecture</vt:lpstr>
      <vt:lpstr>Pour qui ?</vt:lpstr>
      <vt:lpstr>Avantages</vt:lpstr>
      <vt:lpstr>Comparatif des Solutions  d’Analyse de Documents Juridiques</vt:lpstr>
      <vt:lpstr>Contact &amp; Licence</vt:lpstr>
      <vt:lpstr>Slide 13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Assistant de Rédaction de Contrats &amp; Vérificateur de Documents Juridiques </dc:title>
  <dc:subject/>
  <dc:creator/>
  <cp:keywords/>
  <dc:description>generated using python-pptx</dc:description>
  <cp:lastModifiedBy>Patrick</cp:lastModifiedBy>
  <cp:revision>27</cp:revision>
  <dcterms:created xsi:type="dcterms:W3CDTF">2013-01-27T09:14:16Z</dcterms:created>
  <dcterms:modified xsi:type="dcterms:W3CDTF">2025-05-03T04:42:44Z</dcterms:modified>
  <cp:category/>
</cp:coreProperties>
</file>